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052e71f2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052e71f2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052e71f2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052e71f2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052e71f2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052e71f2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052e71f2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052e71f2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052e71f2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052e71f2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052e71f2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052e71f2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052e71f2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b052e71f2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Finding</a:t>
            </a:r>
            <a:r>
              <a:rPr lang="en"/>
              <a:t> happiness in innovation</a:t>
            </a:r>
            <a:endParaRPr/>
          </a:p>
        </p:txBody>
      </p:sp>
      <p:sp>
        <p:nvSpPr>
          <p:cNvPr id="55" name="Google Shape;55;p13"/>
          <p:cNvSpPr txBox="1"/>
          <p:nvPr>
            <p:ph idx="1" type="subTitle"/>
          </p:nvPr>
        </p:nvSpPr>
        <p:spPr>
          <a:xfrm>
            <a:off x="311700" y="3206300"/>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935"/>
              <a:buNone/>
            </a:pPr>
            <a:r>
              <a:rPr lang="en" sz="2580"/>
              <a:t>DATA 101 Fall 2025</a:t>
            </a:r>
            <a:endParaRPr sz="2580"/>
          </a:p>
          <a:p>
            <a:pPr indent="0" lvl="0" marL="0" rtl="0" algn="ctr">
              <a:lnSpc>
                <a:spcPct val="80000"/>
              </a:lnSpc>
              <a:spcBef>
                <a:spcPts val="0"/>
              </a:spcBef>
              <a:spcAft>
                <a:spcPts val="0"/>
              </a:spcAft>
              <a:buSzPts val="935"/>
              <a:buNone/>
            </a:pPr>
            <a:r>
              <a:t/>
            </a:r>
            <a:endParaRPr sz="2580"/>
          </a:p>
          <a:p>
            <a:pPr indent="0" lvl="0" marL="0" rtl="0" algn="ctr">
              <a:lnSpc>
                <a:spcPct val="80000"/>
              </a:lnSpc>
              <a:spcBef>
                <a:spcPts val="0"/>
              </a:spcBef>
              <a:spcAft>
                <a:spcPts val="0"/>
              </a:spcAft>
              <a:buSzPts val="935"/>
              <a:buNone/>
            </a:pPr>
            <a:r>
              <a:rPr lang="en" sz="2580"/>
              <a:t>Final Project - R. Miranda</a:t>
            </a:r>
            <a:endParaRPr sz="2580"/>
          </a:p>
        </p:txBody>
      </p:sp>
      <p:pic>
        <p:nvPicPr>
          <p:cNvPr id="56" name="Google Shape;56;p13"/>
          <p:cNvPicPr preferRelativeResize="0"/>
          <p:nvPr/>
        </p:nvPicPr>
        <p:blipFill>
          <a:blip r:embed="rId3">
            <a:alphaModFix/>
          </a:blip>
          <a:stretch>
            <a:fillRect/>
          </a:stretch>
        </p:blipFill>
        <p:spPr>
          <a:xfrm>
            <a:off x="6536225" y="1942900"/>
            <a:ext cx="962454" cy="792600"/>
          </a:xfrm>
          <a:prstGeom prst="rect">
            <a:avLst/>
          </a:prstGeom>
          <a:noFill/>
          <a:ln>
            <a:noFill/>
          </a:ln>
        </p:spPr>
      </p:pic>
      <p:pic>
        <p:nvPicPr>
          <p:cNvPr id="57" name="Google Shape;57;p13"/>
          <p:cNvPicPr preferRelativeResize="0"/>
          <p:nvPr/>
        </p:nvPicPr>
        <p:blipFill>
          <a:blip r:embed="rId4">
            <a:alphaModFix/>
          </a:blip>
          <a:stretch>
            <a:fillRect/>
          </a:stretch>
        </p:blipFill>
        <p:spPr>
          <a:xfrm>
            <a:off x="2284426" y="2179501"/>
            <a:ext cx="470025" cy="4198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Background</a:t>
            </a:r>
            <a:endParaRPr/>
          </a:p>
        </p:txBody>
      </p:sp>
      <p:sp>
        <p:nvSpPr>
          <p:cNvPr id="63" name="Google Shape;63;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Countries that innovate more in science and technology usually attain higher standards of living.</a:t>
            </a:r>
            <a:endParaRPr/>
          </a:p>
          <a:p>
            <a:pPr indent="0" lvl="0" marL="0" rtl="0" algn="l">
              <a:lnSpc>
                <a:spcPct val="115000"/>
              </a:lnSpc>
              <a:spcBef>
                <a:spcPts val="1200"/>
              </a:spcBef>
              <a:spcAft>
                <a:spcPts val="0"/>
              </a:spcAft>
              <a:buSzPts val="1800"/>
              <a:buNone/>
            </a:pPr>
            <a:r>
              <a:rPr lang="en"/>
              <a:t>Thus, the perception is that the countries that innovate more must have happier citizens.</a:t>
            </a:r>
            <a:endParaRPr/>
          </a:p>
          <a:p>
            <a:pPr indent="0" lvl="0" marL="0" rtl="0" algn="l">
              <a:lnSpc>
                <a:spcPct val="115000"/>
              </a:lnSpc>
              <a:spcBef>
                <a:spcPts val="1200"/>
              </a:spcBef>
              <a:spcAft>
                <a:spcPts val="0"/>
              </a:spcAft>
              <a:buSzPts val="1800"/>
              <a:buNone/>
            </a:pPr>
            <a:r>
              <a:rPr lang="en"/>
              <a:t>But… </a:t>
            </a:r>
            <a:r>
              <a:rPr b="1" lang="en" sz="1942"/>
              <a:t>does more happiness lead to more innovation??  </a:t>
            </a:r>
            <a:endParaRPr b="1" sz="1942"/>
          </a:p>
          <a:p>
            <a:pPr indent="0" lvl="0" marL="0" rtl="0" algn="l">
              <a:lnSpc>
                <a:spcPct val="115000"/>
              </a:lnSpc>
              <a:spcBef>
                <a:spcPts val="1200"/>
              </a:spcBef>
              <a:spcAft>
                <a:spcPts val="0"/>
              </a:spcAft>
              <a:buSzPts val="1800"/>
              <a:buNone/>
            </a:pPr>
            <a:r>
              <a:rPr lang="en"/>
              <a:t>What</a:t>
            </a:r>
            <a:r>
              <a:rPr lang="en"/>
              <a:t> are the characteristics of countries that become scientific and technological innovators?  Are they the happiest?</a:t>
            </a:r>
            <a:endParaRPr/>
          </a:p>
          <a:p>
            <a:pPr indent="0" lvl="0" marL="0" rtl="0" algn="l">
              <a:lnSpc>
                <a:spcPct val="115000"/>
              </a:lnSpc>
              <a:spcBef>
                <a:spcPts val="1200"/>
              </a:spcBef>
              <a:spcAft>
                <a:spcPts val="0"/>
              </a:spcAft>
              <a:buSzPts val="1800"/>
              <a:buNone/>
            </a:pPr>
            <a:r>
              <a:rPr lang="en"/>
              <a:t>PCA was used to understand and explain the role of multiple variables.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Measurable indicators</a:t>
            </a:r>
            <a:endParaRPr/>
          </a:p>
        </p:txBody>
      </p:sp>
      <p:sp>
        <p:nvSpPr>
          <p:cNvPr id="69" name="Google Shape;69;p15"/>
          <p:cNvSpPr txBox="1"/>
          <p:nvPr>
            <p:ph idx="1" type="body"/>
          </p:nvPr>
        </p:nvSpPr>
        <p:spPr>
          <a:xfrm>
            <a:off x="311700" y="1152475"/>
            <a:ext cx="8520600" cy="3800100"/>
          </a:xfrm>
          <a:prstGeom prst="rect">
            <a:avLst/>
          </a:prstGeom>
          <a:noFill/>
          <a:ln>
            <a:noFill/>
          </a:ln>
        </p:spPr>
        <p:txBody>
          <a:bodyPr anchorCtr="0" anchor="t" bIns="91425" lIns="91425" spcFirstLastPara="1" rIns="91425" wrap="square" tIns="91425">
            <a:normAutofit fontScale="55000" lnSpcReduction="10000"/>
          </a:bodyPr>
          <a:lstStyle/>
          <a:p>
            <a:pPr indent="0" lvl="0" marL="0" rtl="0" algn="l">
              <a:lnSpc>
                <a:spcPct val="115000"/>
              </a:lnSpc>
              <a:spcBef>
                <a:spcPts val="0"/>
              </a:spcBef>
              <a:spcAft>
                <a:spcPts val="0"/>
              </a:spcAft>
              <a:buSzPct val="117647"/>
              <a:buNone/>
            </a:pPr>
            <a:r>
              <a:rPr lang="en"/>
              <a:t>From the </a:t>
            </a:r>
            <a:r>
              <a:rPr i="1" lang="en" u="sng">
                <a:solidFill>
                  <a:srgbClr val="0000FF"/>
                </a:solidFill>
              </a:rPr>
              <a:t>World Bank:</a:t>
            </a:r>
            <a:r>
              <a:rPr lang="en">
                <a:solidFill>
                  <a:schemeClr val="dk1"/>
                </a:solidFill>
              </a:rPr>
              <a:t> 21 variables </a:t>
            </a:r>
            <a:endParaRPr>
              <a:solidFill>
                <a:schemeClr val="dk1"/>
              </a:solidFill>
            </a:endParaRPr>
          </a:p>
          <a:p>
            <a:pPr indent="0" lvl="0" marL="0" rtl="0" algn="l">
              <a:lnSpc>
                <a:spcPct val="115000"/>
              </a:lnSpc>
              <a:spcBef>
                <a:spcPts val="1200"/>
              </a:spcBef>
              <a:spcAft>
                <a:spcPts val="0"/>
              </a:spcAft>
              <a:buSzPct val="117647"/>
              <a:buNone/>
            </a:pPr>
            <a:r>
              <a:rPr b="1" lang="en"/>
              <a:t>Country infrastructure: </a:t>
            </a:r>
            <a:r>
              <a:rPr lang="en"/>
              <a:t>electricity, power consumption, internet </a:t>
            </a:r>
            <a:r>
              <a:rPr lang="en"/>
              <a:t>servers</a:t>
            </a:r>
            <a:r>
              <a:rPr lang="en"/>
              <a:t>, internet use by population</a:t>
            </a:r>
            <a:endParaRPr/>
          </a:p>
          <a:p>
            <a:pPr indent="0" lvl="0" marL="0" rtl="0" algn="l">
              <a:lnSpc>
                <a:spcPct val="115000"/>
              </a:lnSpc>
              <a:spcBef>
                <a:spcPts val="1200"/>
              </a:spcBef>
              <a:spcAft>
                <a:spcPts val="0"/>
              </a:spcAft>
              <a:buSzPct val="117647"/>
              <a:buNone/>
            </a:pPr>
            <a:r>
              <a:rPr b="1" lang="en"/>
              <a:t>Research and advanced manufacturing: </a:t>
            </a:r>
            <a:r>
              <a:rPr lang="en"/>
              <a:t>R&amp;D expenditure, high-tech manufacturing value </a:t>
            </a:r>
            <a:r>
              <a:rPr lang="en"/>
              <a:t>added</a:t>
            </a:r>
            <a:r>
              <a:rPr lang="en"/>
              <a:t>, foreign direct investment</a:t>
            </a:r>
            <a:endParaRPr/>
          </a:p>
          <a:p>
            <a:pPr indent="0" lvl="0" marL="0" rtl="0" algn="l">
              <a:lnSpc>
                <a:spcPct val="115000"/>
              </a:lnSpc>
              <a:spcBef>
                <a:spcPts val="1200"/>
              </a:spcBef>
              <a:spcAft>
                <a:spcPts val="0"/>
              </a:spcAft>
              <a:buSzPct val="117647"/>
              <a:buNone/>
            </a:pPr>
            <a:r>
              <a:rPr b="1" lang="en"/>
              <a:t>Human capital: </a:t>
            </a:r>
            <a:r>
              <a:rPr lang="en"/>
              <a:t>health expenditure, life expectancy, education expenditure, completed sec. education, unemployed with advanced education</a:t>
            </a:r>
            <a:endParaRPr/>
          </a:p>
          <a:p>
            <a:pPr indent="0" lvl="0" marL="0" rtl="0" algn="l">
              <a:lnSpc>
                <a:spcPct val="115000"/>
              </a:lnSpc>
              <a:spcBef>
                <a:spcPts val="1200"/>
              </a:spcBef>
              <a:spcAft>
                <a:spcPts val="0"/>
              </a:spcAft>
              <a:buSzPct val="117647"/>
              <a:buNone/>
            </a:pPr>
            <a:r>
              <a:rPr b="1" lang="en"/>
              <a:t>Knowledge output: </a:t>
            </a:r>
            <a:r>
              <a:rPr lang="en"/>
              <a:t>researchers, patent applications, scientific journal particles, high-tech exports, ICT service exports</a:t>
            </a:r>
            <a:endParaRPr/>
          </a:p>
          <a:p>
            <a:pPr indent="0" lvl="0" marL="0" rtl="0" algn="l">
              <a:lnSpc>
                <a:spcPct val="115000"/>
              </a:lnSpc>
              <a:spcBef>
                <a:spcPts val="1200"/>
              </a:spcBef>
              <a:spcAft>
                <a:spcPts val="0"/>
              </a:spcAft>
              <a:buSzPct val="117647"/>
              <a:buNone/>
            </a:pPr>
            <a:r>
              <a:rPr b="1" lang="en"/>
              <a:t>National effectiveness: </a:t>
            </a:r>
            <a:r>
              <a:rPr lang="en"/>
              <a:t>GDP, GDP/person/employed, GNI/capita, adj. net national income</a:t>
            </a:r>
            <a:endParaRPr/>
          </a:p>
          <a:p>
            <a:pPr indent="0" lvl="0" marL="0" rtl="0" algn="l">
              <a:lnSpc>
                <a:spcPct val="115000"/>
              </a:lnSpc>
              <a:spcBef>
                <a:spcPts val="1200"/>
              </a:spcBef>
              <a:spcAft>
                <a:spcPts val="0"/>
              </a:spcAft>
              <a:buSzPct val="117647"/>
              <a:buNone/>
            </a:pPr>
            <a:r>
              <a:rPr lang="en"/>
              <a:t>From the </a:t>
            </a:r>
            <a:r>
              <a:rPr i="1" lang="en" u="sng">
                <a:solidFill>
                  <a:srgbClr val="0000FF"/>
                </a:solidFill>
              </a:rPr>
              <a:t>World Intellectual Property Office:</a:t>
            </a:r>
            <a:r>
              <a:rPr lang="en">
                <a:solidFill>
                  <a:srgbClr val="0000FF"/>
                </a:solidFill>
              </a:rPr>
              <a:t> </a:t>
            </a:r>
            <a:r>
              <a:rPr lang="en">
                <a:solidFill>
                  <a:schemeClr val="dk1"/>
                </a:solidFill>
              </a:rPr>
              <a:t>1 variable</a:t>
            </a:r>
            <a:endParaRPr>
              <a:solidFill>
                <a:schemeClr val="dk1"/>
              </a:solidFill>
            </a:endParaRPr>
          </a:p>
          <a:p>
            <a:pPr indent="0" lvl="0" marL="0" rtl="0" algn="l">
              <a:lnSpc>
                <a:spcPct val="115000"/>
              </a:lnSpc>
              <a:spcBef>
                <a:spcPts val="1200"/>
              </a:spcBef>
              <a:spcAft>
                <a:spcPts val="0"/>
              </a:spcAft>
              <a:buSzPct val="117647"/>
              <a:buNone/>
            </a:pPr>
            <a:r>
              <a:rPr b="1" lang="en"/>
              <a:t>Global innovation index </a:t>
            </a:r>
            <a:r>
              <a:rPr lang="en"/>
              <a:t>(150 countries since 2011  (0-100)</a:t>
            </a:r>
            <a:endParaRPr/>
          </a:p>
          <a:p>
            <a:pPr indent="0" lvl="0" marL="0" rtl="0" algn="l">
              <a:lnSpc>
                <a:spcPct val="115000"/>
              </a:lnSpc>
              <a:spcBef>
                <a:spcPts val="1200"/>
              </a:spcBef>
              <a:spcAft>
                <a:spcPts val="0"/>
              </a:spcAft>
              <a:buSzPct val="117647"/>
              <a:buNone/>
            </a:pPr>
            <a:r>
              <a:rPr lang="en"/>
              <a:t>From </a:t>
            </a:r>
            <a:r>
              <a:rPr i="1" lang="en" u="sng">
                <a:solidFill>
                  <a:srgbClr val="0000FF"/>
                </a:solidFill>
              </a:rPr>
              <a:t>Gallup World Poll:</a:t>
            </a:r>
            <a:r>
              <a:rPr lang="en" u="sng">
                <a:solidFill>
                  <a:schemeClr val="dk1"/>
                </a:solidFill>
              </a:rPr>
              <a:t> 1 variable</a:t>
            </a:r>
            <a:endParaRPr b="1" u="sng">
              <a:solidFill>
                <a:schemeClr val="dk1"/>
              </a:solidFill>
            </a:endParaRPr>
          </a:p>
          <a:p>
            <a:pPr indent="0" lvl="0" marL="0" rtl="0" algn="l">
              <a:lnSpc>
                <a:spcPct val="115000"/>
              </a:lnSpc>
              <a:spcBef>
                <a:spcPts val="1200"/>
              </a:spcBef>
              <a:spcAft>
                <a:spcPts val="0"/>
              </a:spcAft>
              <a:buSzPct val="117647"/>
              <a:buNone/>
            </a:pPr>
            <a:r>
              <a:rPr b="1" lang="en"/>
              <a:t>Happinness index </a:t>
            </a:r>
            <a:r>
              <a:rPr lang="en"/>
              <a:t>(145 countries since 2011) (0-10)</a:t>
            </a:r>
            <a:endParaRPr/>
          </a:p>
          <a:p>
            <a:pPr indent="0" lvl="0" marL="0" rtl="0" algn="l">
              <a:lnSpc>
                <a:spcPct val="115000"/>
              </a:lnSpc>
              <a:spcBef>
                <a:spcPts val="1200"/>
              </a:spcBef>
              <a:spcAft>
                <a:spcPts val="0"/>
              </a:spcAft>
              <a:buSzPct val="117647"/>
              <a:buNone/>
            </a:pPr>
            <a:r>
              <a:rPr lang="en"/>
              <a:t>Dataset contains 5425 records, reduced after cleaning.</a:t>
            </a:r>
            <a:endParaRPr/>
          </a:p>
          <a:p>
            <a:pPr indent="0" lvl="0" marL="0" rtl="0" algn="l">
              <a:lnSpc>
                <a:spcPct val="115000"/>
              </a:lnSpc>
              <a:spcBef>
                <a:spcPts val="1200"/>
              </a:spcBef>
              <a:spcAft>
                <a:spcPts val="1200"/>
              </a:spcAft>
              <a:buSzPct val="117647"/>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Approach</a:t>
            </a:r>
            <a:endParaRPr/>
          </a:p>
        </p:txBody>
      </p:sp>
      <p:sp>
        <p:nvSpPr>
          <p:cNvPr id="75" name="Google Shape;75;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457200" rtl="0" algn="l">
              <a:lnSpc>
                <a:spcPct val="115000"/>
              </a:lnSpc>
              <a:spcBef>
                <a:spcPts val="0"/>
              </a:spcBef>
              <a:spcAft>
                <a:spcPts val="0"/>
              </a:spcAft>
              <a:buSzPct val="100000"/>
              <a:buNone/>
            </a:pPr>
            <a:r>
              <a:t/>
            </a:r>
            <a:endParaRPr/>
          </a:p>
          <a:p>
            <a:pPr indent="0" lvl="0" marL="457200" rtl="0" algn="l">
              <a:lnSpc>
                <a:spcPct val="115000"/>
              </a:lnSpc>
              <a:spcBef>
                <a:spcPts val="1200"/>
              </a:spcBef>
              <a:spcAft>
                <a:spcPts val="0"/>
              </a:spcAft>
              <a:buSzPct val="100000"/>
              <a:buNone/>
            </a:pPr>
            <a:r>
              <a:t/>
            </a:r>
            <a:endParaRPr/>
          </a:p>
          <a:p>
            <a:pPr indent="-334327" lvl="0" marL="457200" rtl="0" algn="l">
              <a:lnSpc>
                <a:spcPct val="115000"/>
              </a:lnSpc>
              <a:spcBef>
                <a:spcPts val="1200"/>
              </a:spcBef>
              <a:spcAft>
                <a:spcPts val="0"/>
              </a:spcAft>
              <a:buSzPct val="100000"/>
              <a:buAutoNum type="arabicParenR"/>
            </a:pPr>
            <a:r>
              <a:rPr lang="en"/>
              <a:t>Cleaned and reduced dataset to 2016 rows. </a:t>
            </a:r>
            <a:endParaRPr/>
          </a:p>
          <a:p>
            <a:pPr indent="-334327" lvl="0" marL="457200" rtl="0" algn="l">
              <a:lnSpc>
                <a:spcPct val="115000"/>
              </a:lnSpc>
              <a:spcBef>
                <a:spcPts val="0"/>
              </a:spcBef>
              <a:spcAft>
                <a:spcPts val="0"/>
              </a:spcAft>
              <a:buSzPct val="100000"/>
              <a:buAutoNum type="arabicParenR"/>
            </a:pPr>
            <a:r>
              <a:rPr lang="en"/>
              <a:t>EDA.</a:t>
            </a:r>
            <a:endParaRPr/>
          </a:p>
          <a:p>
            <a:pPr indent="-334327" lvl="0" marL="457200" rtl="0" algn="l">
              <a:lnSpc>
                <a:spcPct val="115000"/>
              </a:lnSpc>
              <a:spcBef>
                <a:spcPts val="0"/>
              </a:spcBef>
              <a:spcAft>
                <a:spcPts val="0"/>
              </a:spcAft>
              <a:buSzPct val="100000"/>
              <a:buAutoNum type="arabicParenR"/>
            </a:pPr>
            <a:r>
              <a:rPr lang="en"/>
              <a:t>Split dataset into training (80%) and testing (20%) sets.</a:t>
            </a:r>
            <a:endParaRPr/>
          </a:p>
          <a:p>
            <a:pPr indent="-334327" lvl="0" marL="457200" rtl="0" algn="l">
              <a:lnSpc>
                <a:spcPct val="115000"/>
              </a:lnSpc>
              <a:spcBef>
                <a:spcPts val="0"/>
              </a:spcBef>
              <a:spcAft>
                <a:spcPts val="0"/>
              </a:spcAft>
              <a:buSzPct val="100000"/>
              <a:buAutoNum type="arabicParenR"/>
            </a:pPr>
            <a:r>
              <a:rPr lang="en"/>
              <a:t>Did PCA on the 23-variable training dataset.</a:t>
            </a:r>
            <a:endParaRPr/>
          </a:p>
          <a:p>
            <a:pPr indent="-334327" lvl="0" marL="457200" rtl="0" algn="l">
              <a:lnSpc>
                <a:spcPct val="115000"/>
              </a:lnSpc>
              <a:spcBef>
                <a:spcPts val="0"/>
              </a:spcBef>
              <a:spcAft>
                <a:spcPts val="0"/>
              </a:spcAft>
              <a:buSzPct val="100000"/>
              <a:buAutoNum type="arabicParenR"/>
            </a:pPr>
            <a:r>
              <a:rPr lang="en"/>
              <a:t>Assess accuracy and statistical significance of the PCA with the test set.</a:t>
            </a:r>
            <a:endParaRPr/>
          </a:p>
          <a:p>
            <a:pPr indent="-334327" lvl="0" marL="457200" rtl="0" algn="l">
              <a:lnSpc>
                <a:spcPct val="115000"/>
              </a:lnSpc>
              <a:spcBef>
                <a:spcPts val="0"/>
              </a:spcBef>
              <a:spcAft>
                <a:spcPts val="0"/>
              </a:spcAft>
              <a:buSzPct val="100000"/>
              <a:buAutoNum type="arabicParenR"/>
            </a:pPr>
            <a:r>
              <a:rPr lang="en"/>
              <a:t>Interpreted the meaning of the PCAs.</a:t>
            </a:r>
            <a:endParaRPr/>
          </a:p>
          <a:p>
            <a:pPr indent="-334327" lvl="0" marL="457200" rtl="0" algn="l">
              <a:lnSpc>
                <a:spcPct val="115000"/>
              </a:lnSpc>
              <a:spcBef>
                <a:spcPts val="0"/>
              </a:spcBef>
              <a:spcAft>
                <a:spcPts val="0"/>
              </a:spcAft>
              <a:buSzPct val="100000"/>
              <a:buAutoNum type="arabicParenR"/>
            </a:pPr>
            <a:r>
              <a:rPr lang="en"/>
              <a:t>Developed linear regression model for </a:t>
            </a:r>
            <a:endParaRPr/>
          </a:p>
          <a:p>
            <a:pPr indent="0" lvl="0" marL="0" rtl="0" algn="l">
              <a:lnSpc>
                <a:spcPct val="115000"/>
              </a:lnSpc>
              <a:spcBef>
                <a:spcPts val="0"/>
              </a:spcBef>
              <a:spcAft>
                <a:spcPts val="0"/>
              </a:spcAft>
              <a:buNone/>
            </a:pPr>
            <a:r>
              <a:rPr i="1" lang="en"/>
              <a:t>                                         </a:t>
            </a:r>
            <a:r>
              <a:rPr i="1" lang="en"/>
              <a:t>innovation</a:t>
            </a:r>
            <a:r>
              <a:rPr lang="en"/>
              <a:t> ~ PC1-PC5 + </a:t>
            </a:r>
            <a:r>
              <a:rPr i="1" lang="en"/>
              <a:t>happiness</a:t>
            </a:r>
            <a:endParaRPr i="1"/>
          </a:p>
          <a:p>
            <a:pPr indent="0" lvl="0" marL="0" rtl="0" algn="l">
              <a:lnSpc>
                <a:spcPct val="115000"/>
              </a:lnSpc>
              <a:spcBef>
                <a:spcPts val="1200"/>
              </a:spcBef>
              <a:spcAft>
                <a:spcPts val="1200"/>
              </a:spcAft>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World Happiness Report</a:t>
            </a:r>
            <a:endParaRPr/>
          </a:p>
        </p:txBody>
      </p:sp>
      <p:pic>
        <p:nvPicPr>
          <p:cNvPr id="81" name="Google Shape;81;p17"/>
          <p:cNvPicPr preferRelativeResize="0"/>
          <p:nvPr/>
        </p:nvPicPr>
        <p:blipFill>
          <a:blip r:embed="rId3">
            <a:alphaModFix/>
          </a:blip>
          <a:stretch>
            <a:fillRect/>
          </a:stretch>
        </p:blipFill>
        <p:spPr>
          <a:xfrm>
            <a:off x="158488" y="1095800"/>
            <a:ext cx="8839199" cy="1152544"/>
          </a:xfrm>
          <a:prstGeom prst="rect">
            <a:avLst/>
          </a:prstGeom>
          <a:noFill/>
          <a:ln>
            <a:noFill/>
          </a:ln>
        </p:spPr>
      </p:pic>
      <p:pic>
        <p:nvPicPr>
          <p:cNvPr id="82" name="Google Shape;82;p17"/>
          <p:cNvPicPr preferRelativeResize="0"/>
          <p:nvPr/>
        </p:nvPicPr>
        <p:blipFill>
          <a:blip r:embed="rId4">
            <a:alphaModFix/>
          </a:blip>
          <a:stretch>
            <a:fillRect/>
          </a:stretch>
        </p:blipFill>
        <p:spPr>
          <a:xfrm>
            <a:off x="311700" y="3178850"/>
            <a:ext cx="8902499" cy="940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Exploratory data analysis</a:t>
            </a:r>
            <a:endParaRPr/>
          </a:p>
        </p:txBody>
      </p:sp>
      <p:pic>
        <p:nvPicPr>
          <p:cNvPr id="88" name="Google Shape;88;p18"/>
          <p:cNvPicPr preferRelativeResize="0"/>
          <p:nvPr/>
        </p:nvPicPr>
        <p:blipFill>
          <a:blip r:embed="rId3">
            <a:alphaModFix/>
          </a:blip>
          <a:stretch>
            <a:fillRect/>
          </a:stretch>
        </p:blipFill>
        <p:spPr>
          <a:xfrm>
            <a:off x="1548750" y="1017725"/>
            <a:ext cx="6546801" cy="399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PCA </a:t>
            </a:r>
            <a:endParaRPr/>
          </a:p>
          <a:p>
            <a:pPr indent="0" lvl="0" marL="0" rtl="0" algn="l">
              <a:lnSpc>
                <a:spcPct val="100000"/>
              </a:lnSpc>
              <a:spcBef>
                <a:spcPts val="0"/>
              </a:spcBef>
              <a:spcAft>
                <a:spcPts val="0"/>
              </a:spcAft>
              <a:buSzPct val="111111"/>
              <a:buNone/>
            </a:pPr>
            <a:r>
              <a:t/>
            </a:r>
            <a:endParaRPr/>
          </a:p>
        </p:txBody>
      </p:sp>
      <p:pic>
        <p:nvPicPr>
          <p:cNvPr id="94" name="Google Shape;94;p19"/>
          <p:cNvPicPr preferRelativeResize="0"/>
          <p:nvPr/>
        </p:nvPicPr>
        <p:blipFill>
          <a:blip r:embed="rId3">
            <a:alphaModFix/>
          </a:blip>
          <a:stretch>
            <a:fillRect/>
          </a:stretch>
        </p:blipFill>
        <p:spPr>
          <a:xfrm>
            <a:off x="3264350" y="199975"/>
            <a:ext cx="5879651" cy="3169730"/>
          </a:xfrm>
          <a:prstGeom prst="rect">
            <a:avLst/>
          </a:prstGeom>
          <a:noFill/>
          <a:ln>
            <a:noFill/>
          </a:ln>
        </p:spPr>
      </p:pic>
      <p:pic>
        <p:nvPicPr>
          <p:cNvPr id="95" name="Google Shape;95;p19"/>
          <p:cNvPicPr preferRelativeResize="0"/>
          <p:nvPr/>
        </p:nvPicPr>
        <p:blipFill>
          <a:blip r:embed="rId4">
            <a:alphaModFix/>
          </a:blip>
          <a:stretch>
            <a:fillRect/>
          </a:stretch>
        </p:blipFill>
        <p:spPr>
          <a:xfrm>
            <a:off x="786275" y="3817025"/>
            <a:ext cx="7670599" cy="1174500"/>
          </a:xfrm>
          <a:prstGeom prst="rect">
            <a:avLst/>
          </a:prstGeom>
          <a:noFill/>
          <a:ln>
            <a:noFill/>
          </a:ln>
        </p:spPr>
      </p:pic>
      <p:sp>
        <p:nvSpPr>
          <p:cNvPr id="96" name="Google Shape;96;p19"/>
          <p:cNvSpPr/>
          <p:nvPr/>
        </p:nvSpPr>
        <p:spPr>
          <a:xfrm>
            <a:off x="5431650" y="2285400"/>
            <a:ext cx="570000" cy="572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9"/>
          <p:cNvSpPr/>
          <p:nvPr/>
        </p:nvSpPr>
        <p:spPr>
          <a:xfrm>
            <a:off x="5815675" y="4008675"/>
            <a:ext cx="777000" cy="572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9"/>
          <p:cNvSpPr txBox="1"/>
          <p:nvPr/>
        </p:nvSpPr>
        <p:spPr>
          <a:xfrm>
            <a:off x="439250" y="3292900"/>
            <a:ext cx="2825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Kaiser criterion: 1 SD</a:t>
            </a:r>
            <a:endParaRPr b="1" sz="1800">
              <a:solidFill>
                <a:schemeClr val="dk2"/>
              </a:solidFill>
            </a:endParaRPr>
          </a:p>
        </p:txBody>
      </p:sp>
      <p:sp>
        <p:nvSpPr>
          <p:cNvPr id="99" name="Google Shape;99;p19"/>
          <p:cNvSpPr txBox="1"/>
          <p:nvPr/>
        </p:nvSpPr>
        <p:spPr>
          <a:xfrm>
            <a:off x="439250" y="1924476"/>
            <a:ext cx="232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Spree plot</a:t>
            </a:r>
            <a:endParaRPr b="1"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Loadings (rotation matrix) </a:t>
            </a:r>
            <a:endParaRPr/>
          </a:p>
        </p:txBody>
      </p:sp>
      <p:pic>
        <p:nvPicPr>
          <p:cNvPr id="105" name="Google Shape;105;p20"/>
          <p:cNvPicPr preferRelativeResize="0"/>
          <p:nvPr/>
        </p:nvPicPr>
        <p:blipFill>
          <a:blip r:embed="rId3">
            <a:alphaModFix/>
          </a:blip>
          <a:stretch>
            <a:fillRect/>
          </a:stretch>
        </p:blipFill>
        <p:spPr>
          <a:xfrm>
            <a:off x="4501375" y="548276"/>
            <a:ext cx="4083325" cy="4479250"/>
          </a:xfrm>
          <a:prstGeom prst="rect">
            <a:avLst/>
          </a:prstGeom>
          <a:noFill/>
          <a:ln>
            <a:noFill/>
          </a:ln>
        </p:spPr>
      </p:pic>
      <p:sp>
        <p:nvSpPr>
          <p:cNvPr id="106" name="Google Shape;106;p20"/>
          <p:cNvSpPr/>
          <p:nvPr/>
        </p:nvSpPr>
        <p:spPr>
          <a:xfrm>
            <a:off x="6670675" y="1133775"/>
            <a:ext cx="916800" cy="2262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0"/>
          <p:cNvSpPr/>
          <p:nvPr/>
        </p:nvSpPr>
        <p:spPr>
          <a:xfrm>
            <a:off x="6670675" y="2042000"/>
            <a:ext cx="916800" cy="2262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0"/>
          <p:cNvSpPr/>
          <p:nvPr/>
        </p:nvSpPr>
        <p:spPr>
          <a:xfrm>
            <a:off x="6670675" y="2268200"/>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20"/>
          <p:cNvSpPr/>
          <p:nvPr/>
        </p:nvSpPr>
        <p:spPr>
          <a:xfrm>
            <a:off x="6670675" y="2804700"/>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0"/>
          <p:cNvSpPr/>
          <p:nvPr/>
        </p:nvSpPr>
        <p:spPr>
          <a:xfrm>
            <a:off x="6670675" y="4687925"/>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p:nvPr/>
        </p:nvSpPr>
        <p:spPr>
          <a:xfrm>
            <a:off x="6670675" y="3580350"/>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p:nvPr/>
        </p:nvSpPr>
        <p:spPr>
          <a:xfrm>
            <a:off x="6670675" y="3341200"/>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p:nvPr/>
        </p:nvSpPr>
        <p:spPr>
          <a:xfrm>
            <a:off x="6670675" y="4857725"/>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20"/>
          <p:cNvSpPr/>
          <p:nvPr/>
        </p:nvSpPr>
        <p:spPr>
          <a:xfrm>
            <a:off x="6727675" y="2634900"/>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0"/>
          <p:cNvSpPr/>
          <p:nvPr/>
        </p:nvSpPr>
        <p:spPr>
          <a:xfrm>
            <a:off x="6670675" y="2988050"/>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0"/>
          <p:cNvSpPr/>
          <p:nvPr/>
        </p:nvSpPr>
        <p:spPr>
          <a:xfrm>
            <a:off x="7587475" y="963975"/>
            <a:ext cx="916800" cy="169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p:nvPr/>
        </p:nvSpPr>
        <p:spPr>
          <a:xfrm>
            <a:off x="7587475" y="2438000"/>
            <a:ext cx="916800" cy="169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20"/>
          <p:cNvSpPr/>
          <p:nvPr/>
        </p:nvSpPr>
        <p:spPr>
          <a:xfrm>
            <a:off x="7587475" y="3157850"/>
            <a:ext cx="916800" cy="169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0"/>
          <p:cNvSpPr/>
          <p:nvPr/>
        </p:nvSpPr>
        <p:spPr>
          <a:xfrm>
            <a:off x="7644475" y="1893825"/>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20"/>
          <p:cNvSpPr/>
          <p:nvPr/>
        </p:nvSpPr>
        <p:spPr>
          <a:xfrm>
            <a:off x="7587475" y="4421875"/>
            <a:ext cx="916800" cy="169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0"/>
          <p:cNvSpPr/>
          <p:nvPr/>
        </p:nvSpPr>
        <p:spPr>
          <a:xfrm>
            <a:off x="7644475" y="4857725"/>
            <a:ext cx="916800" cy="169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20"/>
          <p:cNvSpPr txBox="1"/>
          <p:nvPr/>
        </p:nvSpPr>
        <p:spPr>
          <a:xfrm>
            <a:off x="173475" y="1699100"/>
            <a:ext cx="39324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PC1: country socioeconomic, scientific and technological balance</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n" sz="1700">
                <a:solidFill>
                  <a:schemeClr val="dk2"/>
                </a:solidFill>
              </a:rPr>
              <a:t>PC2: (- axis) high productivity, income, scientific outcome, counteracted by (+ axis) social factors </a:t>
            </a:r>
            <a:endParaRPr sz="17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BIPLOT   (PC1-PC2) loadings and scores</a:t>
            </a:r>
            <a:endParaRPr/>
          </a:p>
        </p:txBody>
      </p:sp>
      <p:pic>
        <p:nvPicPr>
          <p:cNvPr id="128" name="Google Shape;128;p21"/>
          <p:cNvPicPr preferRelativeResize="0"/>
          <p:nvPr/>
        </p:nvPicPr>
        <p:blipFill>
          <a:blip r:embed="rId3">
            <a:alphaModFix/>
          </a:blip>
          <a:stretch>
            <a:fillRect/>
          </a:stretch>
        </p:blipFill>
        <p:spPr>
          <a:xfrm>
            <a:off x="1441000" y="934700"/>
            <a:ext cx="6097025" cy="4095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111111"/>
              <a:buFont typeface="Arial"/>
              <a:buNone/>
            </a:pPr>
            <a:r>
              <a:rPr lang="en"/>
              <a:t>Which are the most competitive countries</a:t>
            </a:r>
            <a:endParaRPr/>
          </a:p>
          <a:p>
            <a:pPr indent="0" lvl="0" marL="0" rtl="0" algn="l">
              <a:spcBef>
                <a:spcPts val="0"/>
              </a:spcBef>
              <a:spcAft>
                <a:spcPts val="0"/>
              </a:spcAft>
              <a:buNone/>
            </a:pPr>
            <a:r>
              <a:t/>
            </a:r>
            <a:endParaRPr/>
          </a:p>
        </p:txBody>
      </p:sp>
      <p:pic>
        <p:nvPicPr>
          <p:cNvPr id="134" name="Google Shape;134;p22"/>
          <p:cNvPicPr preferRelativeResize="0"/>
          <p:nvPr/>
        </p:nvPicPr>
        <p:blipFill>
          <a:blip r:embed="rId3">
            <a:alphaModFix/>
          </a:blip>
          <a:stretch>
            <a:fillRect/>
          </a:stretch>
        </p:blipFill>
        <p:spPr>
          <a:xfrm>
            <a:off x="2217375" y="1378150"/>
            <a:ext cx="5109999" cy="3599125"/>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Which are the most competitive countries</a:t>
            </a:r>
            <a:endParaRPr/>
          </a:p>
        </p:txBody>
      </p:sp>
      <p:pic>
        <p:nvPicPr>
          <p:cNvPr id="140" name="Google Shape;140;p23"/>
          <p:cNvPicPr preferRelativeResize="0"/>
          <p:nvPr/>
        </p:nvPicPr>
        <p:blipFill>
          <a:blip r:embed="rId3">
            <a:alphaModFix/>
          </a:blip>
          <a:stretch>
            <a:fillRect/>
          </a:stretch>
        </p:blipFill>
        <p:spPr>
          <a:xfrm>
            <a:off x="1278125" y="1071000"/>
            <a:ext cx="7102426" cy="39660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4"/>
          <p:cNvPicPr preferRelativeResize="0"/>
          <p:nvPr/>
        </p:nvPicPr>
        <p:blipFill>
          <a:blip r:embed="rId3">
            <a:alphaModFix/>
          </a:blip>
          <a:stretch>
            <a:fillRect/>
          </a:stretch>
        </p:blipFill>
        <p:spPr>
          <a:xfrm>
            <a:off x="1086963" y="0"/>
            <a:ext cx="7193123" cy="51434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PC1-PC5 meaning</a:t>
            </a:r>
            <a:endParaRPr/>
          </a:p>
        </p:txBody>
      </p:sp>
      <p:sp>
        <p:nvSpPr>
          <p:cNvPr id="151" name="Google Shape;15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50">
                <a:solidFill>
                  <a:srgbClr val="333333"/>
                </a:solidFill>
                <a:highlight>
                  <a:srgbClr val="FFFFFF"/>
                </a:highlight>
              </a:rPr>
              <a:t>Meaning of PC1</a:t>
            </a:r>
            <a:r>
              <a:rPr lang="en" sz="1250">
                <a:solidFill>
                  <a:srgbClr val="333333"/>
                </a:solidFill>
                <a:highlight>
                  <a:srgbClr val="FFFFFF"/>
                </a:highlight>
              </a:rPr>
              <a:t>: </a:t>
            </a:r>
            <a:r>
              <a:rPr b="1" lang="en" sz="1250">
                <a:solidFill>
                  <a:srgbClr val="333333"/>
                </a:solidFill>
                <a:highlight>
                  <a:srgbClr val="FFFFFF"/>
                </a:highlight>
              </a:rPr>
              <a:t>indicates degree of economic, scientific, technological, and societal access.</a:t>
            </a:r>
            <a:r>
              <a:rPr lang="en" sz="1250">
                <a:solidFill>
                  <a:srgbClr val="333333"/>
                </a:solidFill>
                <a:highlight>
                  <a:srgbClr val="FFFFFF"/>
                </a:highlight>
              </a:rPr>
              <a:t> Countries-years with high PC1 have high GDP per capita, excellent education, high level of innovation, and high scientific productivity and technological impact. Examples are western European, north American and Asean countries</a:t>
            </a:r>
            <a:endParaRPr sz="1250">
              <a:solidFill>
                <a:srgbClr val="333333"/>
              </a:solidFill>
              <a:highlight>
                <a:srgbClr val="FFFFFF"/>
              </a:highlight>
            </a:endParaRPr>
          </a:p>
          <a:p>
            <a:pPr indent="0" lvl="0" marL="0" rtl="0" algn="l">
              <a:spcBef>
                <a:spcPts val="0"/>
              </a:spcBef>
              <a:spcAft>
                <a:spcPts val="0"/>
              </a:spcAft>
              <a:buNone/>
            </a:pPr>
            <a:r>
              <a:rPr b="1" lang="en" sz="1250">
                <a:solidFill>
                  <a:srgbClr val="333333"/>
                </a:solidFill>
                <a:highlight>
                  <a:srgbClr val="FFFFFF"/>
                </a:highlight>
              </a:rPr>
              <a:t>Meaning of PC2</a:t>
            </a:r>
            <a:r>
              <a:rPr lang="en" sz="1250">
                <a:solidFill>
                  <a:srgbClr val="333333"/>
                </a:solidFill>
                <a:highlight>
                  <a:srgbClr val="FFFFFF"/>
                </a:highlight>
              </a:rPr>
              <a:t>: contrasts countries-years according to </a:t>
            </a:r>
            <a:r>
              <a:rPr b="1" lang="en" sz="1250">
                <a:solidFill>
                  <a:srgbClr val="333333"/>
                </a:solidFill>
                <a:highlight>
                  <a:srgbClr val="FFFFFF"/>
                </a:highlight>
              </a:rPr>
              <a:t>economic size and scientific/technological output.</a:t>
            </a:r>
            <a:r>
              <a:rPr lang="en" sz="1250">
                <a:solidFill>
                  <a:srgbClr val="333333"/>
                </a:solidFill>
                <a:highlight>
                  <a:srgbClr val="FFFFFF"/>
                </a:highlight>
              </a:rPr>
              <a:t> For example, distinguishes Switzerland from USA, both with high technological output, but of drastically different economic size. Large negative PC2 identifies the largest economies with the leading technologies, like USA and China.</a:t>
            </a:r>
            <a:endParaRPr sz="1250">
              <a:solidFill>
                <a:srgbClr val="333333"/>
              </a:solidFill>
              <a:highlight>
                <a:srgbClr val="FFFFFF"/>
              </a:highlight>
            </a:endParaRPr>
          </a:p>
          <a:p>
            <a:pPr indent="0" lvl="0" marL="0" rtl="0" algn="l">
              <a:spcBef>
                <a:spcPts val="0"/>
              </a:spcBef>
              <a:spcAft>
                <a:spcPts val="0"/>
              </a:spcAft>
              <a:buNone/>
            </a:pPr>
            <a:r>
              <a:rPr b="1" lang="en" sz="1250">
                <a:solidFill>
                  <a:srgbClr val="333333"/>
                </a:solidFill>
                <a:highlight>
                  <a:srgbClr val="FFFFFF"/>
                </a:highlight>
              </a:rPr>
              <a:t>Meaning of PC3</a:t>
            </a:r>
            <a:r>
              <a:rPr lang="en" sz="1250">
                <a:solidFill>
                  <a:srgbClr val="333333"/>
                </a:solidFill>
                <a:highlight>
                  <a:srgbClr val="FFFFFF"/>
                </a:highlight>
              </a:rPr>
              <a:t>: contrasts countries-years with </a:t>
            </a:r>
            <a:r>
              <a:rPr b="1" lang="en" sz="1250">
                <a:solidFill>
                  <a:srgbClr val="333333"/>
                </a:solidFill>
                <a:highlight>
                  <a:srgbClr val="FFFFFF"/>
                </a:highlight>
              </a:rPr>
              <a:t>strong social policies </a:t>
            </a:r>
            <a:r>
              <a:rPr lang="en" sz="1250">
                <a:solidFill>
                  <a:srgbClr val="333333"/>
                </a:solidFill>
                <a:highlight>
                  <a:srgbClr val="FFFFFF"/>
                </a:highlight>
              </a:rPr>
              <a:t>(positive loadings) from those with strong promotion for </a:t>
            </a:r>
            <a:r>
              <a:rPr b="1" lang="en" sz="1250">
                <a:solidFill>
                  <a:srgbClr val="333333"/>
                </a:solidFill>
                <a:highlight>
                  <a:srgbClr val="FFFFFF"/>
                </a:highlight>
              </a:rPr>
              <a:t>technology</a:t>
            </a:r>
            <a:r>
              <a:rPr lang="en" sz="1250">
                <a:solidFill>
                  <a:srgbClr val="333333"/>
                </a:solidFill>
                <a:highlight>
                  <a:srgbClr val="FFFFFF"/>
                </a:highlight>
              </a:rPr>
              <a:t> (negative loadings)</a:t>
            </a:r>
            <a:endParaRPr sz="1250">
              <a:solidFill>
                <a:srgbClr val="333333"/>
              </a:solidFill>
              <a:highlight>
                <a:srgbClr val="FFFFFF"/>
              </a:highlight>
            </a:endParaRPr>
          </a:p>
          <a:p>
            <a:pPr indent="0" lvl="0" marL="0" rtl="0" algn="l">
              <a:spcBef>
                <a:spcPts val="0"/>
              </a:spcBef>
              <a:spcAft>
                <a:spcPts val="0"/>
              </a:spcAft>
              <a:buNone/>
            </a:pPr>
            <a:r>
              <a:rPr b="1" lang="en" sz="1250">
                <a:solidFill>
                  <a:srgbClr val="333333"/>
                </a:solidFill>
                <a:highlight>
                  <a:srgbClr val="FFFFFF"/>
                </a:highlight>
              </a:rPr>
              <a:t>Meaning of PC4</a:t>
            </a:r>
            <a:r>
              <a:rPr lang="en" sz="1250">
                <a:solidFill>
                  <a:srgbClr val="333333"/>
                </a:solidFill>
                <a:highlight>
                  <a:srgbClr val="FFFFFF"/>
                </a:highlight>
              </a:rPr>
              <a:t>: captures the difference between countries-years that export much i</a:t>
            </a:r>
            <a:r>
              <a:rPr b="1" lang="en" sz="1250">
                <a:solidFill>
                  <a:srgbClr val="333333"/>
                </a:solidFill>
                <a:highlight>
                  <a:srgbClr val="FFFFFF"/>
                </a:highlight>
              </a:rPr>
              <a:t>nformation technologies </a:t>
            </a:r>
            <a:r>
              <a:rPr lang="en" sz="1250">
                <a:solidFill>
                  <a:srgbClr val="333333"/>
                </a:solidFill>
                <a:highlight>
                  <a:srgbClr val="FFFFFF"/>
                </a:highlight>
              </a:rPr>
              <a:t>(negative loadings) from those that invest in </a:t>
            </a:r>
            <a:r>
              <a:rPr b="1" lang="en" sz="1250">
                <a:solidFill>
                  <a:srgbClr val="333333"/>
                </a:solidFill>
                <a:highlight>
                  <a:srgbClr val="FFFFFF"/>
                </a:highlight>
              </a:rPr>
              <a:t>heavy industry </a:t>
            </a:r>
            <a:r>
              <a:rPr lang="en" sz="1250">
                <a:solidFill>
                  <a:srgbClr val="333333"/>
                </a:solidFill>
                <a:highlight>
                  <a:srgbClr val="FFFFFF"/>
                </a:highlight>
              </a:rPr>
              <a:t>(positive loadings). Examples are eastern European, Russia, and some east Asian countries.</a:t>
            </a:r>
            <a:endParaRPr sz="1250">
              <a:solidFill>
                <a:srgbClr val="333333"/>
              </a:solidFill>
              <a:highlight>
                <a:srgbClr val="FFFFFF"/>
              </a:highlight>
            </a:endParaRPr>
          </a:p>
          <a:p>
            <a:pPr indent="0" lvl="0" marL="0" rtl="0" algn="l">
              <a:spcBef>
                <a:spcPts val="0"/>
              </a:spcBef>
              <a:spcAft>
                <a:spcPts val="0"/>
              </a:spcAft>
              <a:buNone/>
            </a:pPr>
            <a:r>
              <a:rPr b="1" lang="en" sz="1250">
                <a:solidFill>
                  <a:srgbClr val="333333"/>
                </a:solidFill>
                <a:highlight>
                  <a:srgbClr val="FFFFFF"/>
                </a:highlight>
              </a:rPr>
              <a:t>Meaning of PC5</a:t>
            </a:r>
            <a:r>
              <a:rPr lang="en" sz="1250">
                <a:solidFill>
                  <a:srgbClr val="333333"/>
                </a:solidFill>
                <a:highlight>
                  <a:srgbClr val="FFFFFF"/>
                </a:highlight>
              </a:rPr>
              <a:t>: captures the emphasis between countries-years of strong </a:t>
            </a:r>
            <a:r>
              <a:rPr b="1" lang="en" sz="1250">
                <a:solidFill>
                  <a:srgbClr val="333333"/>
                </a:solidFill>
                <a:highlight>
                  <a:srgbClr val="FFFFFF"/>
                </a:highlight>
              </a:rPr>
              <a:t>foreign direct investment</a:t>
            </a:r>
            <a:r>
              <a:rPr lang="en" sz="1250">
                <a:solidFill>
                  <a:srgbClr val="333333"/>
                </a:solidFill>
                <a:highlight>
                  <a:srgbClr val="FFFFFF"/>
                </a:highlight>
              </a:rPr>
              <a:t> (positive) against those focused on </a:t>
            </a:r>
            <a:r>
              <a:rPr b="1" lang="en" sz="1250">
                <a:solidFill>
                  <a:srgbClr val="333333"/>
                </a:solidFill>
                <a:highlight>
                  <a:srgbClr val="FFFFFF"/>
                </a:highlight>
              </a:rPr>
              <a:t>exports of high-tech</a:t>
            </a:r>
            <a:r>
              <a:rPr lang="en" sz="1250">
                <a:solidFill>
                  <a:srgbClr val="333333"/>
                </a:solidFill>
                <a:highlight>
                  <a:srgbClr val="FFFFFF"/>
                </a:highlight>
              </a:rPr>
              <a:t> products (negative). Examples exist in some of the smaller economies and developing countries like Brazil and Taiwan.</a:t>
            </a:r>
            <a:endParaRPr sz="1150">
              <a:solidFill>
                <a:srgbClr val="333333"/>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 assessment of generalizability (using Testing data)</a:t>
            </a:r>
            <a:endParaRPr/>
          </a:p>
        </p:txBody>
      </p:sp>
      <p:pic>
        <p:nvPicPr>
          <p:cNvPr id="157" name="Google Shape;157;p26"/>
          <p:cNvPicPr preferRelativeResize="0"/>
          <p:nvPr/>
        </p:nvPicPr>
        <p:blipFill>
          <a:blip r:embed="rId3">
            <a:alphaModFix/>
          </a:blip>
          <a:stretch>
            <a:fillRect/>
          </a:stretch>
        </p:blipFill>
        <p:spPr>
          <a:xfrm>
            <a:off x="1362425" y="922275"/>
            <a:ext cx="6419149" cy="4305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regression of on PC1-PC5 and happiness_score </a:t>
            </a:r>
            <a:endParaRPr/>
          </a:p>
        </p:txBody>
      </p:sp>
      <p:pic>
        <p:nvPicPr>
          <p:cNvPr id="163" name="Google Shape;163;p27"/>
          <p:cNvPicPr preferRelativeResize="0"/>
          <p:nvPr/>
        </p:nvPicPr>
        <p:blipFill>
          <a:blip r:embed="rId3">
            <a:alphaModFix/>
          </a:blip>
          <a:stretch>
            <a:fillRect/>
          </a:stretch>
        </p:blipFill>
        <p:spPr>
          <a:xfrm>
            <a:off x="1017963" y="1194900"/>
            <a:ext cx="7108074" cy="809400"/>
          </a:xfrm>
          <a:prstGeom prst="rect">
            <a:avLst/>
          </a:prstGeom>
          <a:noFill/>
          <a:ln>
            <a:noFill/>
          </a:ln>
        </p:spPr>
      </p:pic>
      <p:pic>
        <p:nvPicPr>
          <p:cNvPr id="164" name="Google Shape;164;p27"/>
          <p:cNvPicPr preferRelativeResize="0"/>
          <p:nvPr/>
        </p:nvPicPr>
        <p:blipFill>
          <a:blip r:embed="rId4">
            <a:alphaModFix/>
          </a:blip>
          <a:stretch>
            <a:fillRect/>
          </a:stretch>
        </p:blipFill>
        <p:spPr>
          <a:xfrm>
            <a:off x="1874675" y="2117689"/>
            <a:ext cx="4756219" cy="1821425"/>
          </a:xfrm>
          <a:prstGeom prst="rect">
            <a:avLst/>
          </a:prstGeom>
          <a:noFill/>
          <a:ln>
            <a:noFill/>
          </a:ln>
        </p:spPr>
      </p:pic>
      <p:pic>
        <p:nvPicPr>
          <p:cNvPr id="165" name="Google Shape;165;p27"/>
          <p:cNvPicPr preferRelativeResize="0"/>
          <p:nvPr/>
        </p:nvPicPr>
        <p:blipFill>
          <a:blip r:embed="rId5">
            <a:alphaModFix/>
          </a:blip>
          <a:stretch>
            <a:fillRect/>
          </a:stretch>
        </p:blipFill>
        <p:spPr>
          <a:xfrm>
            <a:off x="1069275" y="4052500"/>
            <a:ext cx="6140425" cy="913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World Happiness Report</a:t>
            </a:r>
            <a:endParaRPr/>
          </a:p>
        </p:txBody>
      </p:sp>
      <p:pic>
        <p:nvPicPr>
          <p:cNvPr id="171" name="Google Shape;171;p28"/>
          <p:cNvPicPr preferRelativeResize="0"/>
          <p:nvPr/>
        </p:nvPicPr>
        <p:blipFill>
          <a:blip r:embed="rId3">
            <a:alphaModFix/>
          </a:blip>
          <a:stretch>
            <a:fillRect/>
          </a:stretch>
        </p:blipFill>
        <p:spPr>
          <a:xfrm>
            <a:off x="158488" y="1095800"/>
            <a:ext cx="8839199" cy="1152544"/>
          </a:xfrm>
          <a:prstGeom prst="rect">
            <a:avLst/>
          </a:prstGeom>
          <a:noFill/>
          <a:ln>
            <a:noFill/>
          </a:ln>
        </p:spPr>
      </p:pic>
      <p:pic>
        <p:nvPicPr>
          <p:cNvPr id="172" name="Google Shape;172;p28"/>
          <p:cNvPicPr preferRelativeResize="0"/>
          <p:nvPr/>
        </p:nvPicPr>
        <p:blipFill>
          <a:blip r:embed="rId4">
            <a:alphaModFix/>
          </a:blip>
          <a:stretch>
            <a:fillRect/>
          </a:stretch>
        </p:blipFill>
        <p:spPr>
          <a:xfrm>
            <a:off x="365625" y="3733750"/>
            <a:ext cx="8839176" cy="940750"/>
          </a:xfrm>
          <a:prstGeom prst="rect">
            <a:avLst/>
          </a:prstGeom>
          <a:noFill/>
          <a:ln>
            <a:noFill/>
          </a:ln>
        </p:spPr>
      </p:pic>
      <p:pic>
        <p:nvPicPr>
          <p:cNvPr id="173" name="Google Shape;173;p28"/>
          <p:cNvPicPr preferRelativeResize="0"/>
          <p:nvPr/>
        </p:nvPicPr>
        <p:blipFill>
          <a:blip r:embed="rId5">
            <a:alphaModFix/>
          </a:blip>
          <a:stretch>
            <a:fillRect/>
          </a:stretch>
        </p:blipFill>
        <p:spPr>
          <a:xfrm>
            <a:off x="286425" y="2571738"/>
            <a:ext cx="8953050" cy="870850"/>
          </a:xfrm>
          <a:prstGeom prst="rect">
            <a:avLst/>
          </a:prstGeom>
          <a:noFill/>
          <a:ln>
            <a:noFill/>
          </a:ln>
        </p:spPr>
      </p:pic>
      <p:pic>
        <p:nvPicPr>
          <p:cNvPr id="174" name="Google Shape;174;p28"/>
          <p:cNvPicPr preferRelativeResize="0"/>
          <p:nvPr/>
        </p:nvPicPr>
        <p:blipFill>
          <a:blip r:embed="rId6">
            <a:alphaModFix/>
          </a:blip>
          <a:stretch>
            <a:fillRect/>
          </a:stretch>
        </p:blipFill>
        <p:spPr>
          <a:xfrm>
            <a:off x="8649887" y="3854725"/>
            <a:ext cx="417049" cy="408550"/>
          </a:xfrm>
          <a:prstGeom prst="rect">
            <a:avLst/>
          </a:prstGeom>
          <a:noFill/>
          <a:ln>
            <a:noFill/>
          </a:ln>
        </p:spPr>
      </p:pic>
      <p:pic>
        <p:nvPicPr>
          <p:cNvPr id="175" name="Google Shape;175;p28"/>
          <p:cNvPicPr preferRelativeResize="0"/>
          <p:nvPr/>
        </p:nvPicPr>
        <p:blipFill>
          <a:blip r:embed="rId7">
            <a:alphaModFix/>
          </a:blip>
          <a:stretch>
            <a:fillRect/>
          </a:stretch>
        </p:blipFill>
        <p:spPr>
          <a:xfrm>
            <a:off x="8596901" y="1679363"/>
            <a:ext cx="470025" cy="419812"/>
          </a:xfrm>
          <a:prstGeom prst="rect">
            <a:avLst/>
          </a:prstGeom>
          <a:noFill/>
          <a:ln>
            <a:noFill/>
          </a:ln>
        </p:spPr>
      </p:pic>
      <p:pic>
        <p:nvPicPr>
          <p:cNvPr id="176" name="Google Shape;176;p28"/>
          <p:cNvPicPr preferRelativeResize="0"/>
          <p:nvPr/>
        </p:nvPicPr>
        <p:blipFill>
          <a:blip r:embed="rId8">
            <a:alphaModFix/>
          </a:blip>
          <a:stretch>
            <a:fillRect/>
          </a:stretch>
        </p:blipFill>
        <p:spPr>
          <a:xfrm>
            <a:off x="8276738" y="2781138"/>
            <a:ext cx="470025" cy="419817"/>
          </a:xfrm>
          <a:prstGeom prst="rect">
            <a:avLst/>
          </a:prstGeom>
          <a:noFill/>
          <a:ln>
            <a:noFill/>
          </a:ln>
        </p:spPr>
      </p:pic>
      <p:pic>
        <p:nvPicPr>
          <p:cNvPr id="177" name="Google Shape;177;p28"/>
          <p:cNvPicPr preferRelativeResize="0"/>
          <p:nvPr/>
        </p:nvPicPr>
        <p:blipFill>
          <a:blip r:embed="rId9">
            <a:alphaModFix/>
          </a:blip>
          <a:stretch>
            <a:fillRect/>
          </a:stretch>
        </p:blipFill>
        <p:spPr>
          <a:xfrm>
            <a:off x="8734775" y="2797513"/>
            <a:ext cx="470025" cy="3870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183" name="Google Shape;18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PCA allowed us to reduce dimension from 23 variables to 5 PCs and verify generalizability of the training model with a testing dataset.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interpretation of the PCs allowed us to understand the scores and the country location in PC1-PC2 space.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 linear regression on innovation_score using the 5 PCs and happiness_score as independent variables yields statistically significant model and coefficients.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Happiness influences positively the innovation potential of less developed countries, but in a slightly negative way for countries that have achieved high level of techno-economic development.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NEXT STEPS</a:t>
            </a:r>
            <a:endParaRPr/>
          </a:p>
        </p:txBody>
      </p:sp>
      <p:sp>
        <p:nvSpPr>
          <p:cNvPr id="189" name="Google Shape;189;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en"/>
              <a:t>Def. Innovation Potential= predicted innovation_score - actual innovation_score.</a:t>
            </a:r>
            <a:endParaRPr/>
          </a:p>
          <a:p>
            <a:pPr indent="0" lvl="0" marL="0" rtl="0" algn="l">
              <a:lnSpc>
                <a:spcPct val="115000"/>
              </a:lnSpc>
              <a:spcBef>
                <a:spcPts val="1200"/>
              </a:spcBef>
              <a:spcAft>
                <a:spcPts val="0"/>
              </a:spcAft>
              <a:buSzPts val="1800"/>
              <a:buNone/>
            </a:pPr>
            <a:r>
              <a:rPr lang="en"/>
              <a:t>Countries with positive innovation potential: under-performers.</a:t>
            </a:r>
            <a:endParaRPr/>
          </a:p>
          <a:p>
            <a:pPr indent="0" lvl="0" marL="0" rtl="0" algn="l">
              <a:lnSpc>
                <a:spcPct val="115000"/>
              </a:lnSpc>
              <a:spcBef>
                <a:spcPts val="1200"/>
              </a:spcBef>
              <a:spcAft>
                <a:spcPts val="0"/>
              </a:spcAft>
              <a:buSzPts val="1800"/>
              <a:buNone/>
            </a:pPr>
            <a:r>
              <a:rPr lang="en"/>
              <a:t>Countries with negative innovation potential: over-performers.</a:t>
            </a:r>
            <a:endParaRPr/>
          </a:p>
          <a:p>
            <a:pPr indent="0" lvl="0" marL="0" rtl="0" algn="l">
              <a:lnSpc>
                <a:spcPct val="115000"/>
              </a:lnSpc>
              <a:spcBef>
                <a:spcPts val="1200"/>
              </a:spcBef>
              <a:spcAft>
                <a:spcPts val="1200"/>
              </a:spcAft>
              <a:buSzPts val="1800"/>
              <a:buNone/>
            </a:pPr>
            <a:r>
              <a:rPr lang="en"/>
              <a:t>Classify countries according to Innovation Potential, identify causes (sensitivity analysis) and postulate techno-economic growth models.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