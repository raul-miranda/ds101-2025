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a58c8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a58c8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5a58c814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5a58c814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5a58c814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5a58c814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5a58c814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5a58c814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5a58c814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5a58c814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a58c814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5a58c814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a58c814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5a58c814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a58c814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5a58c814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5a58c814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5a58c814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5a58c814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5a58c814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a58c814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5a58c814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5a58c814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5a58c814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5a58c814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5a58c814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5a58c814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5a58c814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5a58c814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5a58c814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5a58c814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5a58c814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Patents on National Growth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101 Fall 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2 - R Miranda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on the IP patent system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47750" y="1182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Patent: description of a new solution to a current or potential technical challenge. Protects the intellectual property (IP) of the inventor.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Enabled by economies that promote </a:t>
            </a:r>
            <a:r>
              <a:rPr b="1" lang="en"/>
              <a:t>creativity</a:t>
            </a:r>
            <a:r>
              <a:rPr lang="en"/>
              <a:t>, </a:t>
            </a:r>
            <a:r>
              <a:rPr b="1" lang="en"/>
              <a:t>manufacturing</a:t>
            </a:r>
            <a:r>
              <a:rPr lang="en"/>
              <a:t> and </a:t>
            </a:r>
            <a:r>
              <a:rPr b="1" lang="en"/>
              <a:t>scientific infrastructure</a:t>
            </a:r>
            <a:r>
              <a:rPr lang="en"/>
              <a:t>, </a:t>
            </a:r>
            <a:r>
              <a:rPr b="1" lang="en"/>
              <a:t>commercialization</a:t>
            </a:r>
            <a:r>
              <a:rPr lang="en"/>
              <a:t> on a global scale, and </a:t>
            </a:r>
            <a:r>
              <a:rPr b="1" lang="en"/>
              <a:t>financial support</a:t>
            </a:r>
            <a:r>
              <a:rPr lang="en"/>
              <a:t> for inventors and researchers, as well as regulatory protection for new ideas.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145450" y="3106625"/>
            <a:ext cx="2040000" cy="8799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Science 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40200" y="3600975"/>
            <a:ext cx="1126800" cy="7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667948" y="3541650"/>
            <a:ext cx="1037400" cy="7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Patents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6088826" y="3541650"/>
            <a:ext cx="988500" cy="7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7438675" y="3482350"/>
            <a:ext cx="918300" cy="7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GDP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2112000" y="4097775"/>
            <a:ext cx="2084400" cy="78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Manufacturing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capabilities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808100" y="4511850"/>
            <a:ext cx="31842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Regulations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691825" y="3872750"/>
            <a:ext cx="306600" cy="26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284466" y="3854325"/>
            <a:ext cx="306600" cy="21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5782213" y="3830775"/>
            <a:ext cx="306600" cy="26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7104700" y="3830775"/>
            <a:ext cx="306600" cy="26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Leading questions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152475"/>
            <a:ext cx="8520600" cy="30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/>
              <a:t>Do countries that invest more in R&amp;D produce more patents</a:t>
            </a:r>
            <a:r>
              <a:rPr lang="en"/>
              <a:t>?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/>
              <a:t>Are more patents leading to more trade (exports in particular)?</a:t>
            </a:r>
            <a:endParaRPr b="1"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/>
              <a:t>Is the growth of R&amp;D and patents leading to growth in GDP?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Importance: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Quantifying those connections may lead to better policy of investment in R&amp;D.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</a:t>
            </a:r>
            <a:r>
              <a:rPr baseline="-25000" lang="en"/>
              <a:t>0</a:t>
            </a:r>
            <a:r>
              <a:rPr lang="en"/>
              <a:t>= R&amp;D investment does not affect Patents or trade or GDP.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used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USPTO (US Patent and Trademark Office): patent tables.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World Bank indicators: GDP, Exports, </a:t>
            </a:r>
            <a:r>
              <a:rPr lang="en"/>
              <a:t>R&amp;D funding, </a:t>
            </a:r>
            <a:r>
              <a:rPr lang="en"/>
              <a:t>Manufacture, Researchers.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World in Data: Trade, Country by income level, Publications.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bound dataset, once cleaned, covers well the 2000-2020 period for roughly 170 countries and contains about 1.1M records.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Selected variables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6188800" y="1420575"/>
            <a:ext cx="1680600" cy="2432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.Manufacturing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.Exports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.Trade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.GDP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3623700" y="1420575"/>
            <a:ext cx="1896600" cy="2432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.Country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.Income_class: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(Low,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Lower-Medium,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Upper-Medium,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High)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.RD_spending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.Researchers/mill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.Publications/mill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067875" y="1460025"/>
            <a:ext cx="1944900" cy="2353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.Year_application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.Year_grant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r>
              <a:rPr lang="en"/>
              <a:t>WIPO_field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.WIPO_sector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.Men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.Women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5285100" y="278600"/>
            <a:ext cx="375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25" y="125375"/>
            <a:ext cx="3808951" cy="2387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125" y="2571750"/>
            <a:ext cx="3808950" cy="252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3075" y="1309250"/>
            <a:ext cx="4910925" cy="3371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3700" y="2672000"/>
            <a:ext cx="3410199" cy="23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6825" y="85250"/>
            <a:ext cx="3971713" cy="258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750" y="85250"/>
            <a:ext cx="3821551" cy="25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00" y="1101400"/>
            <a:ext cx="4605424" cy="311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9324" y="1139050"/>
            <a:ext cx="4081376" cy="286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750" y="197500"/>
            <a:ext cx="6002497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875" y="231500"/>
            <a:ext cx="7926774" cy="11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875" y="1223450"/>
            <a:ext cx="7245650" cy="90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500" y="2344400"/>
            <a:ext cx="3779086" cy="264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7575" y="2344400"/>
            <a:ext cx="3693949" cy="25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50" y="132320"/>
            <a:ext cx="9143999" cy="843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250" y="976125"/>
            <a:ext cx="6385651" cy="108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375" y="2099675"/>
            <a:ext cx="4156000" cy="296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8275" y="2099675"/>
            <a:ext cx="3988074" cy="291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3350" y="0"/>
            <a:ext cx="3669550" cy="24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8875" y="0"/>
            <a:ext cx="3549623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875" y="2697225"/>
            <a:ext cx="3549624" cy="2410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3025" y="2803225"/>
            <a:ext cx="3221025" cy="208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3274925" y="2279250"/>
            <a:ext cx="170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Normality and homoscedasticity</a:t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50" y="196600"/>
            <a:ext cx="6081725" cy="475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6865950" y="1916550"/>
            <a:ext cx="171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Multicollinearity of independent vars.</a:t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3750"/>
            <a:ext cx="4477625" cy="32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7625" y="1264650"/>
            <a:ext cx="4477626" cy="3151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03950"/>
            <a:ext cx="4098257" cy="29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25" y="1230025"/>
            <a:ext cx="4325224" cy="3093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0" y="864150"/>
            <a:ext cx="4404326" cy="318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850" y="913575"/>
            <a:ext cx="4338070" cy="31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log model is statistically more significant than the linear model and displays better goodness of fit. The log model </a:t>
            </a:r>
            <a:r>
              <a:rPr lang="en"/>
              <a:t>shows normality of </a:t>
            </a:r>
            <a:r>
              <a:rPr lang="en"/>
              <a:t>distribution of residuals and homoscedasticity, while the linear model shows accumulation towards the lower and higher quantiles.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original questions were:</a:t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/>
              <a:t>Do countries that invest more in R&amp;D produce more patents</a:t>
            </a:r>
            <a:r>
              <a:rPr lang="en"/>
              <a:t>?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/>
              <a:t>Are more patents leading to more trade (exports in particular)?</a:t>
            </a:r>
            <a:endParaRPr b="1"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/>
              <a:t>Is the growth of R&amp;D and patents leading to growth in GDP?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models support the alternative hypothesis that R&amp;D investment affects GDP. More specifically,  the predicted ROI is significant. The predicted trends show that increasing patent applications, trade, and scientific publications are favorable for GDP growth.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model predicts negative effects on GDP from increased national manufacturing, which is explainable but </a:t>
            </a:r>
            <a:r>
              <a:rPr lang="en"/>
              <a:t>requires</a:t>
            </a:r>
            <a:r>
              <a:rPr lang="en"/>
              <a:t> further study.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models shows that countries with higher-middle income are leveraging their </a:t>
            </a:r>
            <a:r>
              <a:rPr lang="en"/>
              <a:t>R&amp;D investment and </a:t>
            </a:r>
            <a:r>
              <a:rPr lang="en"/>
              <a:t>growing </a:t>
            </a:r>
            <a:r>
              <a:rPr lang="en"/>
              <a:t>their GDP </a:t>
            </a:r>
            <a:r>
              <a:rPr lang="en"/>
              <a:t>at the fastest rate compared to high, lower-middle and low income countries in the 2000-2020 period.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exploratory data analysis showed that the female/male ratio of inventors, which reached about 25% in 2020, is increasing fast.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