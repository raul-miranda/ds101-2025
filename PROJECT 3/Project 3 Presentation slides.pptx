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a39b7b93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a39b7b9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a39b7b93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a39b7b93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a39b7b93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a39b7b93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a39b7b93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a39b7b93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a39b7b93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a39b7b93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a39b7b932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a39b7b932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a39b7b932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a39b7b93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a39b7b932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a39b7b932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a39b7b932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a39b7b932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a39b7b932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a39b7b932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6.png"/><Relationship Id="rId7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5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9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image" Target="../media/image5.png"/><Relationship Id="rId8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High-Tech Potential of Countries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2063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2580"/>
              <a:t>DATA 101 Fall 2025</a:t>
            </a:r>
            <a:endParaRPr sz="258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258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2580"/>
              <a:t>Project 3 - R. Miranda</a:t>
            </a:r>
            <a:endParaRPr sz="258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are the characteristics of countries that are advancing high-tech industries?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How can a developing country become a high-tech leader?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First step: identify the countries that have already acquired that status and examine its fundamentals.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This project is meant to take the first step in order to answer those questions.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Measurable indicators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8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World Bank: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Country productivity</a:t>
            </a:r>
            <a:r>
              <a:rPr lang="en"/>
              <a:t>:  High-Tech Exports, ICT goods exports, ICT service exports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National resources:</a:t>
            </a:r>
            <a:r>
              <a:rPr lang="en"/>
              <a:t> Access to electricity, Internet users, Secure servers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Research promotion</a:t>
            </a:r>
            <a:r>
              <a:rPr lang="en"/>
              <a:t>:  R&amp;D expenditure, R&amp;D researchers, Scientific publications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Dataset contains 5400 records, 220 countries and regions; 2000-2024 period.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From United Nations Trade and Development: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Frontier Technology Readiness Index (0:1) =&gt;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Tech_Readiness: low (FTRI 0&lt;0.7); high (FTRI 0.7≤1)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Dataset covers 175 countries in the 2010-2023 period.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Reduced dataset: 2010-2023 (2400 rows).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Cleaning and EDA.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Split dataset into training (80%) and testing (20%) sets.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Train the full logistic regression model tech_readiness ~ 9 indicators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Assess accuracy and statistical significance of model with the test set.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Predict the NA tech_readiness for the 5400 row dataset.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</a:t>
            </a:r>
            <a:endParaRPr/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50" y="1065150"/>
            <a:ext cx="4448606" cy="2889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065150"/>
            <a:ext cx="4448627" cy="2889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Goodness of fit  of model_train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225" y="1160575"/>
            <a:ext cx="4870626" cy="365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1900" y="147100"/>
            <a:ext cx="3925724" cy="1718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20138" y="2386038"/>
            <a:ext cx="1651175" cy="9598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8"/>
          <p:cNvSpPr txBox="1"/>
          <p:nvPr/>
        </p:nvSpPr>
        <p:spPr>
          <a:xfrm>
            <a:off x="5303400" y="2107499"/>
            <a:ext cx="1603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Confusion mtrx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        predicted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25300" y="2193375"/>
            <a:ext cx="2296275" cy="95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98450" y="3242450"/>
            <a:ext cx="2655626" cy="185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Predicting the test set - with model_train</a:t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350" y="1819025"/>
            <a:ext cx="1683375" cy="10255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/>
        </p:nvSpPr>
        <p:spPr>
          <a:xfrm>
            <a:off x="579025" y="1372725"/>
            <a:ext cx="1466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Confusion mtrx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        predicted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450" y="3078675"/>
            <a:ext cx="2424100" cy="119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63125" y="1372725"/>
            <a:ext cx="3854350" cy="2567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Predicting tech_readiness for 2000-2024 period</a:t>
            </a:r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82050"/>
            <a:ext cx="8839201" cy="275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459508"/>
            <a:ext cx="8839201" cy="382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1992197"/>
            <a:ext cx="397192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43025" y="2757425"/>
            <a:ext cx="5214175" cy="39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43025" y="3153997"/>
            <a:ext cx="3793748" cy="1771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23525" y="3153997"/>
            <a:ext cx="942975" cy="18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557286" y="3153997"/>
            <a:ext cx="894959" cy="17716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3" name="Google Shape;113;p20"/>
          <p:cNvCxnSpPr/>
          <p:nvPr/>
        </p:nvCxnSpPr>
        <p:spPr>
          <a:xfrm flipH="1" rot="10800000">
            <a:off x="373350" y="1842200"/>
            <a:ext cx="1233000" cy="87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" name="Google Shape;114;p20"/>
          <p:cNvCxnSpPr/>
          <p:nvPr/>
        </p:nvCxnSpPr>
        <p:spPr>
          <a:xfrm>
            <a:off x="2643025" y="1846550"/>
            <a:ext cx="1233000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" name="Google Shape;115;p20"/>
          <p:cNvCxnSpPr/>
          <p:nvPr/>
        </p:nvCxnSpPr>
        <p:spPr>
          <a:xfrm flipH="1" rot="10800000">
            <a:off x="2643025" y="2344238"/>
            <a:ext cx="1285800" cy="8700"/>
          </a:xfrm>
          <a:prstGeom prst="straightConnector1">
            <a:avLst/>
          </a:prstGeom>
          <a:noFill/>
          <a:ln cap="flat" cmpd="sng" w="7620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Evolution over time</a:t>
            </a:r>
            <a:endParaRPr/>
          </a:p>
        </p:txBody>
      </p:sp>
      <p:pic>
        <p:nvPicPr>
          <p:cNvPr id="121" name="Google Shape;1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8375" y="1017725"/>
            <a:ext cx="5996651" cy="420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6750" y="1795950"/>
            <a:ext cx="4637174" cy="3307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825" y="95125"/>
            <a:ext cx="4694951" cy="3347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133" name="Google Shape;13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logistic regression model (model_train) is statistically significant, predicting tech_readiness with high accuracy, precision, </a:t>
            </a:r>
            <a:r>
              <a:rPr lang="en"/>
              <a:t>specificity</a:t>
            </a:r>
            <a:r>
              <a:rPr lang="en"/>
              <a:t> and recall.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Initial analysis of how the indicators affect the predictions indicate that R&amp;D expenditures and High-technology exports are among the most influential. But other indicators were important: access to electricity, researchers, scientific articles and internet users.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time evolution of the differences between low and high countries shows that the gap in R&amp;D expenditures (1.5% GDP) is slowly decreasing and the gap in High-tech exports (15% of all exports) is widening.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